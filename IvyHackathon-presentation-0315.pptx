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3"/>
    <p:sldId id="273" r:id="rId5"/>
    <p:sldId id="274" r:id="rId6"/>
    <p:sldId id="272" r:id="rId7"/>
    <p:sldId id="276" r:id="rId8"/>
    <p:sldId id="277" r:id="rId9"/>
    <p:sldId id="275" r:id="rId10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谭艳霞" initials="谭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04"/>
  </p:normalViewPr>
  <p:slideViewPr>
    <p:cSldViewPr snapToGrid="0" snapToObjects="1">
      <p:cViewPr varScale="1">
        <p:scale>
          <a:sx n="160" d="100"/>
          <a:sy n="160" d="100"/>
        </p:scale>
        <p:origin x="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Shape 144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446" name="Shape 144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defTabSz="4572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defTabSz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defTabSz="4572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defTabSz="4572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defTabSz="4572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defTabSz="4572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defTabSz="457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defTabSz="4572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ea typeface="宋体" panose="02010600030101010101" pitchFamily="2" charset="-122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850B7-243E-B44C-91D9-EC504FD0DDA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0" y="1200150"/>
            <a:ext cx="4038600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30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63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05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55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49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0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1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2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3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4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2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6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7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8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9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0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1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9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3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4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5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6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7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8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6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0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1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2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3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4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5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3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7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8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9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0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1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2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0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4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5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6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7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8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9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7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1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2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3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4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5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6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4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8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9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0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1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2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3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162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12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06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7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8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9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0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1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9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3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4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5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6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7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8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6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0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1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2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3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4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5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3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7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8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9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0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1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2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40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4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5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6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7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8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9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47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1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2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3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4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5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6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54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8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9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50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51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52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53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61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55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56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57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58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59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60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164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166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Title Text</a:t>
            </a:r>
          </a:p>
        </p:txBody>
      </p:sp>
      <p:sp>
        <p:nvSpPr>
          <p:cNvPr id="16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 lIns="44450" tIns="44450" rIns="44450" bIns="44450"/>
          <a:lstStyle>
            <a:lvl1pPr marL="0" indent="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indent="3429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indent="6858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indent="10287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indent="1371600" algn="ctr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290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232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82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76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77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78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79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80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81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89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83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84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85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86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87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88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96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90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91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92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93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94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95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03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97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98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99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00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01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02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10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04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05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06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07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08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09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17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11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12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13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14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15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16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24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18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19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20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21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22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23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31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225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26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27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28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29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30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289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239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233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34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35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36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37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38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46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40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41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42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43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44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45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53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47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48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49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50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51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52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60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54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55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56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57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58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59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67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61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62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63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64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65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66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74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68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69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70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71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72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73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81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75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76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77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78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79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80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288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282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83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84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85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86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287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291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293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9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Title Text</a:t>
            </a:r>
          </a:p>
        </p:txBody>
      </p:sp>
      <p:sp>
        <p:nvSpPr>
          <p:cNvPr id="29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990600" y="1485900"/>
            <a:ext cx="7162800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14630" indent="-21463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214630" indent="1282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214630" indent="4711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214630" indent="8140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14630" indent="11569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417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359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309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303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04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05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06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07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08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16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10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11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12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13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14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15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23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17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18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19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20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21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22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30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24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25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26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27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28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29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37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31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32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33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34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35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36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44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38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39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40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41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42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43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51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45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46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47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48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49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50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58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352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53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54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55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56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57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416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366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360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61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62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63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64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65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73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67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68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69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70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71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72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80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74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75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76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77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78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79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87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81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82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83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84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85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86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394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88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89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90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91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92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93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401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395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96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97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98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399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00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408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402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03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04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05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06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07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415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409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10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11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12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13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14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418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420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722435" y="3305176"/>
            <a:ext cx="7772401" cy="1021557"/>
          </a:xfrm>
          <a:prstGeom prst="rect">
            <a:avLst/>
          </a:prstGeom>
        </p:spPr>
        <p:txBody>
          <a:bodyPr lIns="44450" tIns="44450" rIns="44450" bIns="44450" anchor="t"/>
          <a:lstStyle>
            <a:lvl1pPr algn="l" defTabSz="914400">
              <a:lnSpc>
                <a:spcPct val="90000"/>
              </a:lnSpc>
              <a:defRPr sz="3000" b="1" cap="all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Title Text</a:t>
            </a:r>
          </a:p>
        </p:txBody>
      </p:sp>
      <p:sp>
        <p:nvSpPr>
          <p:cNvPr id="42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435" y="2180034"/>
            <a:ext cx="7772401" cy="1125141"/>
          </a:xfrm>
          <a:prstGeom prst="rect">
            <a:avLst/>
          </a:prstGeom>
        </p:spPr>
        <p:txBody>
          <a:bodyPr lIns="44450" tIns="44450" rIns="44450" bIns="44450" anchor="b"/>
          <a:lstStyle>
            <a:lvl1pPr marL="0" indent="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indent="3429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indent="6858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indent="10287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indent="1371600" defTabSz="91440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5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544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486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436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430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31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32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33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34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35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443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37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38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39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40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41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42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450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44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45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46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47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48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49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457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51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52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53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54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55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56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464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58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59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60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61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62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63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471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65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66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67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68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69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70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478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72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73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74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75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76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77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485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479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80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81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82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83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84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543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493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487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88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89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90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91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92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00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494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95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96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97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98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499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07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01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02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03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04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05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06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14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08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09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10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11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12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13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21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15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16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17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18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19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20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28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22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23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24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25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26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27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35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29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30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31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32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33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34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42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536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37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38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39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40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41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545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547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Title Text</a:t>
            </a:r>
          </a:p>
        </p:txBody>
      </p:sp>
      <p:sp>
        <p:nvSpPr>
          <p:cNvPr id="54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990600" y="1485900"/>
            <a:ext cx="3511063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14630" indent="-214630" defTabSz="914400">
              <a:lnSpc>
                <a:spcPct val="90000"/>
              </a:lnSpc>
              <a:buSzTx/>
              <a:buFontTx/>
              <a:buNone/>
              <a:defRPr sz="21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214630" indent="128270" defTabSz="914400">
              <a:lnSpc>
                <a:spcPct val="90000"/>
              </a:lnSpc>
              <a:buSzTx/>
              <a:buFontTx/>
              <a:buNone/>
              <a:defRPr sz="21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214630" indent="471170" defTabSz="914400">
              <a:lnSpc>
                <a:spcPct val="90000"/>
              </a:lnSpc>
              <a:buSzTx/>
              <a:buFontTx/>
              <a:buNone/>
              <a:defRPr sz="21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214630" indent="814070" defTabSz="914400">
              <a:lnSpc>
                <a:spcPct val="90000"/>
              </a:lnSpc>
              <a:buSzTx/>
              <a:buFontTx/>
              <a:buNone/>
              <a:defRPr sz="21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14630" indent="1156970" defTabSz="914400">
              <a:lnSpc>
                <a:spcPct val="90000"/>
              </a:lnSpc>
              <a:buSzTx/>
              <a:buFontTx/>
              <a:buNone/>
              <a:defRPr sz="21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3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671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613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563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557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58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59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60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61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62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70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64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65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66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67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68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69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77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71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72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73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74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75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76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84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78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79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80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81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82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83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91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85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86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87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88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89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90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598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92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93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94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95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96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597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05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599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00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01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02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03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04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12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06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07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08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09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10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11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670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620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614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15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16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17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18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19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27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21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22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23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24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25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26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34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28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29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30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31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32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33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41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35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36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37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38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39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40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48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42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43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44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45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46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47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55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49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50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51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52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53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54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62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56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57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58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59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60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61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69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663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64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65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66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67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68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672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674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75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Title Text</a:t>
            </a:r>
          </a:p>
        </p:txBody>
      </p:sp>
      <p:sp>
        <p:nvSpPr>
          <p:cNvPr id="67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4"/>
            <a:ext cx="4040067" cy="479823"/>
          </a:xfrm>
          <a:prstGeom prst="rect">
            <a:avLst/>
          </a:prstGeom>
        </p:spPr>
        <p:txBody>
          <a:bodyPr lIns="44450" tIns="44450" rIns="44450" bIns="44450" anchor="b"/>
          <a:lstStyle>
            <a:lvl1pPr marL="0" indent="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indent="3429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indent="6858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indent="10287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indent="137160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7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269" y="1151334"/>
            <a:ext cx="4041531" cy="479823"/>
          </a:xfrm>
          <a:prstGeom prst="rect">
            <a:avLst/>
          </a:prstGeom>
        </p:spPr>
        <p:txBody>
          <a:bodyPr lIns="44450" tIns="44450" rIns="44450" bIns="44450" anchor="b"/>
          <a:lstStyle/>
          <a:p>
            <a:pPr marL="0" indent="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6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799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741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691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685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86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87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88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89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90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698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92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93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94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95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96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697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05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699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00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01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02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03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04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12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06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07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08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09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10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11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19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13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14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15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16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17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18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26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20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21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22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23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24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25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33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27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28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29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30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31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32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40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734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35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36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37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38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39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798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748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742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43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44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45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46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47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55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49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50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51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52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53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54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62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56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57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58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59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60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61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69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63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64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65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66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67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68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76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70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71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72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73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74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75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83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77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78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79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80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81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82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90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84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85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86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87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88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89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797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791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92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93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94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95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796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800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802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03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Title Text</a:t>
            </a:r>
          </a:p>
        </p:txBody>
      </p:sp>
      <p:sp>
        <p:nvSpPr>
          <p:cNvPr id="8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925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867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817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811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12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13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14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15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16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24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18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19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20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21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22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23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31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25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26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27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28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29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30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38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32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33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34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35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36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37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45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39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40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41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42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43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44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52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46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47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48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49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50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51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59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53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54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55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56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57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58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66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860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61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62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63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64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65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924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874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868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69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70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71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72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73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81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75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76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77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78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79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80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88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82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83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84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85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86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87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895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89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90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91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92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93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94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02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896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97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98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899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00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01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09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903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04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05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06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07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08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16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910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11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12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13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14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15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23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917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18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19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20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21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22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926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928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2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050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992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942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936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37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38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39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40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41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49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43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44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45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46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47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48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56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50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51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52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53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54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55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63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57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58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59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60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61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62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70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64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65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66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67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68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69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77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71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72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73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74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75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76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84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78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79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80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81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82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83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991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985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86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87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88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89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90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1049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999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993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94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95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96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97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998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06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00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01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02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03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04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05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13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07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08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09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10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11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12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20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14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15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16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17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18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19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27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21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22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23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24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25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26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34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28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29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30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31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32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33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41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35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36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37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38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39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40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48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042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43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44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45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46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47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1051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1053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54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457200" y="204786"/>
            <a:ext cx="3008435" cy="871539"/>
          </a:xfrm>
          <a:prstGeom prst="rect">
            <a:avLst/>
          </a:prstGeom>
        </p:spPr>
        <p:txBody>
          <a:bodyPr lIns="44450" tIns="44450" rIns="44450" bIns="44450" anchor="b"/>
          <a:lstStyle>
            <a:lvl1pPr algn="l" defTabSz="914400">
              <a:lnSpc>
                <a:spcPct val="90000"/>
              </a:lnSpc>
              <a:defRPr sz="1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Title Text</a:t>
            </a:r>
          </a:p>
        </p:txBody>
      </p:sp>
      <p:sp>
        <p:nvSpPr>
          <p:cNvPr id="105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3575537" y="204788"/>
            <a:ext cx="5111263" cy="4389836"/>
          </a:xfrm>
          <a:prstGeom prst="rect">
            <a:avLst/>
          </a:prstGeom>
        </p:spPr>
        <p:txBody>
          <a:bodyPr lIns="44450" tIns="44450" rIns="44450" bIns="44450"/>
          <a:lstStyle>
            <a:lvl1pPr marL="214630" indent="-214630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214630" indent="128270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214630" indent="471170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214630" indent="814070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14630" indent="1156970" defTabSz="914400">
              <a:lnSpc>
                <a:spcPct val="90000"/>
              </a:lnSpc>
              <a:spcBef>
                <a:spcPts val="800"/>
              </a:spcBef>
              <a:buSzTx/>
              <a:buFontTx/>
              <a:buNone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6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200" y="1076326"/>
            <a:ext cx="3008435" cy="3518297"/>
          </a:xfrm>
          <a:prstGeom prst="rect">
            <a:avLst/>
          </a:prstGeom>
        </p:spPr>
        <p:txBody>
          <a:bodyPr lIns="44450" tIns="44450" rIns="44450" bIns="44450"/>
          <a:lstStyle/>
          <a:p>
            <a:pPr marL="0" indent="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</a:p>
        </p:txBody>
      </p:sp>
      <p:sp>
        <p:nvSpPr>
          <p:cNvPr id="10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0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178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120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070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064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65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66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67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68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69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77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71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72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73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74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75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76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84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78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79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80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81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82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83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91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85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86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87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88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89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90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098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92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93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94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95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96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097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05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099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00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01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02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03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04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12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106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07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08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09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10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11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19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113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14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15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16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17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18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1177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127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121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22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23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24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25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26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34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28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29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30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31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32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33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41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35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36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37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38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39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40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48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42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43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44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45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46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47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55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49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50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51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52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53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54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62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56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57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58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59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60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61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69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63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64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65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66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67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68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176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170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71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72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73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74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75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1179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1181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8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792165" y="3600450"/>
            <a:ext cx="5486401" cy="425054"/>
          </a:xfrm>
          <a:prstGeom prst="rect">
            <a:avLst/>
          </a:prstGeom>
        </p:spPr>
        <p:txBody>
          <a:bodyPr lIns="44450" tIns="44450" rIns="44450" bIns="44450" anchor="b"/>
          <a:lstStyle>
            <a:lvl1pPr algn="l" defTabSz="914400">
              <a:lnSpc>
                <a:spcPct val="90000"/>
              </a:lnSpc>
              <a:defRPr sz="1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Title Text</a:t>
            </a:r>
          </a:p>
        </p:txBody>
      </p:sp>
      <p:sp>
        <p:nvSpPr>
          <p:cNvPr id="11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165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118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165" y="4025503"/>
            <a:ext cx="5486401" cy="603648"/>
          </a:xfrm>
          <a:prstGeom prst="rect">
            <a:avLst/>
          </a:prstGeom>
        </p:spPr>
        <p:txBody>
          <a:bodyPr lIns="44450" tIns="44450" rIns="44450" bIns="44450"/>
          <a:lstStyle>
            <a:lvl1pPr marL="0" indent="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indent="3429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indent="6858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indent="10287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indent="1371600" defTabSz="914400">
              <a:lnSpc>
                <a:spcPct val="90000"/>
              </a:lnSpc>
              <a:spcBef>
                <a:spcPts val="300"/>
              </a:spcBef>
              <a:buSzTx/>
              <a:buFontTx/>
              <a:buNone/>
              <a:defRPr sz="10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8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306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248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198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192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93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94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95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96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197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05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199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00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01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02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03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04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12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06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07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08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09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10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11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19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13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14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15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16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17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18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26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20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21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22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23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24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25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33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27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28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29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30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31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32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40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34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35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36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37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38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39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47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241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42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43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44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45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46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1305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255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249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50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51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52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53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54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62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56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57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58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59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60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61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69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63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64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65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66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67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68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76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70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71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72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73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74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75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83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77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78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79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80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81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82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90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84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85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86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87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88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89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297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91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92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93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94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95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96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04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298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299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00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01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02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03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1307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1309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1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990600" y="457200"/>
            <a:ext cx="7162800" cy="85725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Title Text</a:t>
            </a:r>
          </a:p>
        </p:txBody>
      </p:sp>
      <p:sp>
        <p:nvSpPr>
          <p:cNvPr id="131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990600" y="1485900"/>
            <a:ext cx="7162800" cy="3086100"/>
          </a:xfrm>
          <a:prstGeom prst="rect">
            <a:avLst/>
          </a:prstGeom>
        </p:spPr>
        <p:txBody>
          <a:bodyPr lIns="44450" tIns="44450" rIns="44450" bIns="44450"/>
          <a:lstStyle>
            <a:lvl1pPr marL="214630" indent="-21463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214630" indent="1282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214630" indent="4711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214630" indent="8140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14630" indent="11569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5" name="Group 118"/>
          <p:cNvGrpSpPr/>
          <p:nvPr/>
        </p:nvGrpSpPr>
        <p:grpSpPr>
          <a:xfrm>
            <a:off x="70339" y="59532"/>
            <a:ext cx="8954966" cy="4980385"/>
            <a:chOff x="0" y="0"/>
            <a:chExt cx="8954965" cy="4980384"/>
          </a:xfrm>
        </p:grpSpPr>
        <p:grpSp>
          <p:nvGrpSpPr>
            <p:cNvPr id="1433" name="Group 116"/>
            <p:cNvGrpSpPr/>
            <p:nvPr/>
          </p:nvGrpSpPr>
          <p:grpSpPr>
            <a:xfrm>
              <a:off x="0" y="-1"/>
              <a:ext cx="8954966" cy="4980386"/>
              <a:chOff x="0" y="0"/>
              <a:chExt cx="8954965" cy="4980384"/>
            </a:xfrm>
          </p:grpSpPr>
          <p:grpSp>
            <p:nvGrpSpPr>
              <p:cNvPr id="1375" name="Group 58"/>
              <p:cNvGrpSpPr/>
              <p:nvPr/>
            </p:nvGrpSpPr>
            <p:grpSpPr>
              <a:xfrm>
                <a:off x="0" y="-1"/>
                <a:ext cx="1098535" cy="1215629"/>
                <a:chOff x="0" y="0"/>
                <a:chExt cx="1098534" cy="1215627"/>
              </a:xfrm>
            </p:grpSpPr>
            <p:grpSp>
              <p:nvGrpSpPr>
                <p:cNvPr id="1325" name="Group 8"/>
                <p:cNvGrpSpPr/>
                <p:nvPr/>
              </p:nvGrpSpPr>
              <p:grpSpPr>
                <a:xfrm>
                  <a:off x="0" y="0"/>
                  <a:ext cx="1098535" cy="80962"/>
                  <a:chOff x="0" y="0"/>
                  <a:chExt cx="1098534" cy="80961"/>
                </a:xfrm>
              </p:grpSpPr>
              <p:sp>
                <p:nvSpPr>
                  <p:cNvPr id="1319" name="Rectangle 2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20" name="Rectangle 3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21" name="Rectangle 4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22" name="Rectangle 5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23" name="Rectangle 6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24" name="Rectangle 7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32" name="Group 15"/>
                <p:cNvGrpSpPr/>
                <p:nvPr/>
              </p:nvGrpSpPr>
              <p:grpSpPr>
                <a:xfrm>
                  <a:off x="0" y="159543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26" name="Rectangle 9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27" name="Rectangle 10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28" name="Rectangle 11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29" name="Rectangle 12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30" name="Rectangle 13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31" name="Rectangle 14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39" name="Group 22"/>
                <p:cNvGrpSpPr/>
                <p:nvPr/>
              </p:nvGrpSpPr>
              <p:grpSpPr>
                <a:xfrm>
                  <a:off x="0" y="32265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33" name="Rectangle 16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34" name="Rectangle 17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35" name="Rectangle 18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36" name="Rectangle 19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37" name="Rectangle 20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38" name="Rectangle 21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46" name="Group 29"/>
                <p:cNvGrpSpPr/>
                <p:nvPr/>
              </p:nvGrpSpPr>
              <p:grpSpPr>
                <a:xfrm>
                  <a:off x="0" y="48577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40" name="Rectangle 23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41" name="Rectangle 24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42" name="Rectangle 25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43" name="Rectangle 26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44" name="Rectangle 27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45" name="Rectangle 28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53" name="Group 36"/>
                <p:cNvGrpSpPr/>
                <p:nvPr/>
              </p:nvGrpSpPr>
              <p:grpSpPr>
                <a:xfrm>
                  <a:off x="0" y="646509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47" name="Rectangle 30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48" name="Rectangle 31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49" name="Rectangle 32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50" name="Rectangle 33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51" name="Rectangle 34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52" name="Rectangle 35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60" name="Group 43"/>
                <p:cNvGrpSpPr/>
                <p:nvPr/>
              </p:nvGrpSpPr>
              <p:grpSpPr>
                <a:xfrm>
                  <a:off x="0" y="80962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54" name="Rectangle 37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55" name="Rectangle 38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56" name="Rectangle 39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57" name="Rectangle 40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58" name="Rectangle 41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59" name="Rectangle 42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67" name="Group 50"/>
                <p:cNvGrpSpPr/>
                <p:nvPr/>
              </p:nvGrpSpPr>
              <p:grpSpPr>
                <a:xfrm>
                  <a:off x="0" y="971550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61" name="Rectangle 44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62" name="Rectangle 45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63" name="Rectangle 46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64" name="Rectangle 47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65" name="Rectangle 48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66" name="Rectangle 49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74" name="Group 57"/>
                <p:cNvGrpSpPr/>
                <p:nvPr/>
              </p:nvGrpSpPr>
              <p:grpSpPr>
                <a:xfrm>
                  <a:off x="0" y="1134665"/>
                  <a:ext cx="1098535" cy="80963"/>
                  <a:chOff x="0" y="0"/>
                  <a:chExt cx="1098534" cy="80961"/>
                </a:xfrm>
              </p:grpSpPr>
              <p:sp>
                <p:nvSpPr>
                  <p:cNvPr id="1368" name="Rectangle 51"/>
                  <p:cNvSpPr/>
                  <p:nvPr/>
                </p:nvSpPr>
                <p:spPr>
                  <a:xfrm>
                    <a:off x="0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69" name="Rectangle 52"/>
                  <p:cNvSpPr/>
                  <p:nvPr/>
                </p:nvSpPr>
                <p:spPr>
                  <a:xfrm>
                    <a:off x="20002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70" name="Rectangle 53"/>
                  <p:cNvSpPr/>
                  <p:nvPr/>
                </p:nvSpPr>
                <p:spPr>
                  <a:xfrm>
                    <a:off x="401632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71" name="Rectangle 54"/>
                  <p:cNvSpPr/>
                  <p:nvPr/>
                </p:nvSpPr>
                <p:spPr>
                  <a:xfrm>
                    <a:off x="60165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72" name="Rectangle 55"/>
                  <p:cNvSpPr/>
                  <p:nvPr/>
                </p:nvSpPr>
                <p:spPr>
                  <a:xfrm>
                    <a:off x="80167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73" name="Rectangle 56"/>
                  <p:cNvSpPr/>
                  <p:nvPr/>
                </p:nvSpPr>
                <p:spPr>
                  <a:xfrm>
                    <a:off x="100328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  <p:grpSp>
            <p:nvGrpSpPr>
              <p:cNvPr id="1432" name="Group 115"/>
              <p:cNvGrpSpPr/>
              <p:nvPr/>
            </p:nvGrpSpPr>
            <p:grpSpPr>
              <a:xfrm>
                <a:off x="7858018" y="3764757"/>
                <a:ext cx="1096948" cy="1215628"/>
                <a:chOff x="0" y="0"/>
                <a:chExt cx="1096947" cy="1215627"/>
              </a:xfrm>
            </p:grpSpPr>
            <p:grpSp>
              <p:nvGrpSpPr>
                <p:cNvPr id="1382" name="Group 65"/>
                <p:cNvGrpSpPr/>
                <p:nvPr/>
              </p:nvGrpSpPr>
              <p:grpSpPr>
                <a:xfrm>
                  <a:off x="-1" y="0"/>
                  <a:ext cx="1096949" cy="80962"/>
                  <a:chOff x="0" y="0"/>
                  <a:chExt cx="1096947" cy="80961"/>
                </a:xfrm>
              </p:grpSpPr>
              <p:sp>
                <p:nvSpPr>
                  <p:cNvPr id="1376" name="Rectangle 59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77" name="Rectangle 60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78" name="Rectangle 61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79" name="Rectangle 62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80" name="Rectangle 63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81" name="Rectangle 64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DADADA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89" name="Group 72"/>
                <p:cNvGrpSpPr/>
                <p:nvPr/>
              </p:nvGrpSpPr>
              <p:grpSpPr>
                <a:xfrm>
                  <a:off x="-1" y="159543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83" name="Rectangle 66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84" name="Rectangle 67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85" name="Rectangle 68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86" name="Rectangle 69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87" name="Rectangle 70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88" name="Rectangle 71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CECECE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396" name="Group 79"/>
                <p:cNvGrpSpPr/>
                <p:nvPr/>
              </p:nvGrpSpPr>
              <p:grpSpPr>
                <a:xfrm>
                  <a:off x="-1" y="32265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90" name="Rectangle 73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91" name="Rectangle 74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92" name="Rectangle 75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93" name="Rectangle 76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94" name="Rectangle 77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95" name="Rectangle 78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A1A1A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403" name="Group 86"/>
                <p:cNvGrpSpPr/>
                <p:nvPr/>
              </p:nvGrpSpPr>
              <p:grpSpPr>
                <a:xfrm>
                  <a:off x="-1" y="48577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397" name="Rectangle 80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98" name="Rectangle 81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399" name="Rectangle 82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00" name="Rectangle 83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01" name="Rectangle 84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02" name="Rectangle 85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410" name="Group 93"/>
                <p:cNvGrpSpPr/>
                <p:nvPr/>
              </p:nvGrpSpPr>
              <p:grpSpPr>
                <a:xfrm>
                  <a:off x="-1" y="646509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04" name="Rectangle 87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05" name="Rectangle 88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06" name="Rectangle 89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07" name="Rectangle 90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08" name="Rectangle 91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09" name="Rectangle 92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67676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417" name="Group 100"/>
                <p:cNvGrpSpPr/>
                <p:nvPr/>
              </p:nvGrpSpPr>
              <p:grpSpPr>
                <a:xfrm>
                  <a:off x="-1" y="80962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11" name="Rectangle 94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12" name="Rectangle 95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13" name="Rectangle 96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14" name="Rectangle 97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15" name="Rectangle 98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16" name="Rectangle 99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474747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424" name="Group 107"/>
                <p:cNvGrpSpPr/>
                <p:nvPr/>
              </p:nvGrpSpPr>
              <p:grpSpPr>
                <a:xfrm>
                  <a:off x="-1" y="971550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18" name="Rectangle 101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19" name="Rectangle 102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20" name="Rectangle 103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21" name="Rectangle 104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22" name="Rectangle 105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23" name="Rectangle 106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33333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  <p:grpSp>
              <p:nvGrpSpPr>
                <p:cNvPr id="1431" name="Group 114"/>
                <p:cNvGrpSpPr/>
                <p:nvPr/>
              </p:nvGrpSpPr>
              <p:grpSpPr>
                <a:xfrm>
                  <a:off x="-1" y="1134665"/>
                  <a:ext cx="1096949" cy="80963"/>
                  <a:chOff x="0" y="0"/>
                  <a:chExt cx="1096947" cy="80961"/>
                </a:xfrm>
              </p:grpSpPr>
              <p:sp>
                <p:nvSpPr>
                  <p:cNvPr id="1425" name="Rectangle 108"/>
                  <p:cNvSpPr/>
                  <p:nvPr/>
                </p:nvSpPr>
                <p:spPr>
                  <a:xfrm>
                    <a:off x="-1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26" name="Rectangle 109"/>
                  <p:cNvSpPr/>
                  <p:nvPr/>
                </p:nvSpPr>
                <p:spPr>
                  <a:xfrm>
                    <a:off x="193672" y="0"/>
                    <a:ext cx="10001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27" name="Rectangle 110"/>
                  <p:cNvSpPr/>
                  <p:nvPr/>
                </p:nvSpPr>
                <p:spPr>
                  <a:xfrm>
                    <a:off x="400044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28" name="Rectangle 111"/>
                  <p:cNvSpPr/>
                  <p:nvPr/>
                </p:nvSpPr>
                <p:spPr>
                  <a:xfrm>
                    <a:off x="600066" y="0"/>
                    <a:ext cx="95249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29" name="Rectangle 112"/>
                  <p:cNvSpPr/>
                  <p:nvPr/>
                </p:nvSpPr>
                <p:spPr>
                  <a:xfrm>
                    <a:off x="80167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  <p:sp>
                <p:nvSpPr>
                  <p:cNvPr id="1430" name="Rectangle 113"/>
                  <p:cNvSpPr/>
                  <p:nvPr/>
                </p:nvSpPr>
                <p:spPr>
                  <a:xfrm>
                    <a:off x="1003286" y="0"/>
                    <a:ext cx="93662" cy="80962"/>
                  </a:xfrm>
                  <a:prstGeom prst="rect">
                    <a:avLst/>
                  </a:prstGeom>
                  <a:solidFill>
                    <a:srgbClr val="232323"/>
                  </a:solidFill>
                  <a:ln w="12700" cap="flat">
                    <a:noFill/>
                    <a:miter lim="400000"/>
                  </a:ln>
                  <a:effectLst>
                    <a:outerShdw blurRad="63500" dist="53882" dir="2700000" rotWithShape="0">
                      <a:srgbClr val="000000">
                        <a:alpha val="74997"/>
                      </a:srgbClr>
                    </a:outerShdw>
                  </a:effectLst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pPr defTabSz="685800">
                      <a:defRPr sz="1600" b="1">
                        <a:latin typeface="Arial" panose="020B0604020202020204"/>
                        <a:ea typeface="Arial" panose="020B0604020202020204"/>
                        <a:cs typeface="Arial" panose="020B0604020202020204"/>
                        <a:sym typeface="Arial" panose="020B0604020202020204"/>
                      </a:defRPr>
                    </a:pPr>
                  </a:p>
                </p:txBody>
              </p:sp>
            </p:grpSp>
          </p:grpSp>
        </p:grpSp>
        <p:sp>
          <p:nvSpPr>
            <p:cNvPr id="1434" name="Rectangle 117"/>
            <p:cNvSpPr/>
            <p:nvPr/>
          </p:nvSpPr>
          <p:spPr>
            <a:xfrm>
              <a:off x="393694" y="302418"/>
              <a:ext cx="8216789" cy="44196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>
              <a:outerShdw blurRad="63500" dist="71842" dir="2700000" rotWithShape="0">
                <a:srgbClr val="232323">
                  <a:alpha val="74997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685800">
                <a:defRPr sz="1600" b="1"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pPr>
            </a:p>
          </p:txBody>
        </p:sp>
      </p:grpSp>
      <p:pic>
        <p:nvPicPr>
          <p:cNvPr id="1436" name="Picture 121" descr="Picture 1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89" y="4245769"/>
            <a:ext cx="977411" cy="44053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3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362700" y="457200"/>
            <a:ext cx="1790700" cy="4114800"/>
          </a:xfrm>
          <a:prstGeom prst="rect">
            <a:avLst/>
          </a:prstGeom>
        </p:spPr>
        <p:txBody>
          <a:bodyPr lIns="44450" tIns="44450" rIns="44450" bIns="44450"/>
          <a:lstStyle>
            <a:lvl1pPr defTabSz="914400">
              <a:lnSpc>
                <a:spcPct val="90000"/>
              </a:lnSpc>
              <a:defRPr sz="27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Title Text</a:t>
            </a:r>
          </a:p>
        </p:txBody>
      </p:sp>
      <p:sp>
        <p:nvSpPr>
          <p:cNvPr id="143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990600" y="457200"/>
            <a:ext cx="5231424" cy="4114800"/>
          </a:xfrm>
          <a:prstGeom prst="rect">
            <a:avLst/>
          </a:prstGeom>
        </p:spPr>
        <p:txBody>
          <a:bodyPr lIns="44450" tIns="44450" rIns="44450" bIns="44450"/>
          <a:lstStyle>
            <a:lvl1pPr marL="214630" indent="-21463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214630" indent="1282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214630" indent="4711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214630" indent="8140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14630" indent="1156970" defTabSz="914400">
              <a:lnSpc>
                <a:spcPct val="90000"/>
              </a:lnSpc>
              <a:spcBef>
                <a:spcPts val="600"/>
              </a:spcBef>
              <a:buSzTx/>
              <a:buFontTx/>
              <a:buNone/>
              <a:defRPr sz="18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2818" y="4769565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sp>
        <p:nvSpPr>
          <p:cNvPr id="5" name="IETF Hackathon - &lt;Project name&gt;"/>
          <p:cNvSpPr txBox="1"/>
          <p:nvPr/>
        </p:nvSpPr>
        <p:spPr>
          <a:xfrm>
            <a:off x="3045582" y="4731544"/>
            <a:ext cx="1724025" cy="3067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rgbClr val="535353"/>
                </a:solidFill>
              </a:defRPr>
            </a:lvl1pPr>
          </a:lstStyle>
          <a:p>
            <a:r>
              <a:t>IETF Hackathon - &lt;</a:t>
            </a:r>
            <a:r>
              <a:rPr lang="en-US"/>
              <a:t>Ivy</a:t>
            </a:r>
            <a:r>
              <a:t>&gt;</a:t>
            </a:r>
          </a:p>
        </p:txBody>
      </p:sp>
      <p:sp>
        <p:nvSpPr>
          <p:cNvPr id="6" name="文本框 5"/>
          <p:cNvSpPr txBox="1"/>
          <p:nvPr userDrawn="1"/>
        </p:nvSpPr>
        <p:spPr>
          <a:xfrm>
            <a:off x="194310" y="2948305"/>
            <a:ext cx="3048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hf hdr="0" ftr="0" dt="0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300" y="1306195"/>
            <a:ext cx="5099050" cy="1265555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solidFill>
                  <a:schemeClr val="bg2"/>
                </a:solidFill>
              </a:rPr>
              <a:t>IETF Hackathon</a:t>
            </a:r>
            <a:br>
              <a:rPr lang="en-US" sz="4000" dirty="0">
                <a:solidFill>
                  <a:schemeClr val="bg2"/>
                </a:solidFill>
              </a:rPr>
            </a:br>
            <a:r>
              <a:rPr lang="en-US" dirty="0">
                <a:solidFill>
                  <a:schemeClr val="bg2"/>
                </a:solidFill>
              </a:rPr>
              <a:t>-</a:t>
            </a:r>
            <a:r>
              <a:rPr lang="en-US" altLang="zh-CN" dirty="0">
                <a:solidFill>
                  <a:schemeClr val="bg2"/>
                </a:solidFill>
              </a:rPr>
              <a:t>YANG Data Model for Network Inventory (IVY)</a:t>
            </a:r>
            <a:endParaRPr lang="en-US" altLang="zh-CN" dirty="0">
              <a:solidFill>
                <a:schemeClr val="bg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28370" y="2827867"/>
            <a:ext cx="4087487" cy="104988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2"/>
                </a:solidFill>
              </a:rPr>
              <a:t>IETF 125</a:t>
            </a:r>
            <a:endParaRPr lang="en-US" sz="2400" dirty="0">
              <a:solidFill>
                <a:schemeClr val="bg2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2"/>
                </a:solidFill>
              </a:rPr>
              <a:t>14–15 March 2026 </a:t>
            </a:r>
            <a:endParaRPr lang="en-US" sz="2400" dirty="0">
              <a:solidFill>
                <a:schemeClr val="bg2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2"/>
                </a:solidFill>
              </a:rPr>
              <a:t>Shenzhen, China</a:t>
            </a:r>
            <a:endParaRPr lang="en-US" sz="1050" dirty="0">
              <a:solidFill>
                <a:schemeClr val="bg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6239510" y="4411662"/>
            <a:ext cx="2133600" cy="279401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IVY YANG Model Interop Test</a:t>
            </a:r>
            <a:endParaRPr lang="en-US" altLang="zh-CN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417830" y="1344295"/>
            <a:ext cx="3811905" cy="3385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latin typeface="+mj-cs"/>
                <a:cs typeface="+mj-cs"/>
              </a:rPr>
              <a:t>Most likely </a:t>
            </a:r>
            <a:r>
              <a:rPr lang="en-US" altLang="en-GB" sz="1800" dirty="0">
                <a:latin typeface="+mj-cs"/>
                <a:cs typeface="+mj-cs"/>
              </a:rPr>
              <a:t>testbed </a:t>
            </a:r>
            <a:r>
              <a:rPr lang="en-GB" sz="1800" dirty="0">
                <a:latin typeface="+mj-cs"/>
                <a:cs typeface="+mj-cs"/>
              </a:rPr>
              <a:t>configuration:</a:t>
            </a:r>
            <a:endParaRPr lang="en-GB" sz="1800" dirty="0">
              <a:latin typeface="+mj-cs"/>
              <a:cs typeface="+mj-cs"/>
            </a:endParaRPr>
          </a:p>
          <a:p>
            <a:pPr lvl="1"/>
            <a:r>
              <a:rPr lang="en-GB" sz="1400" dirty="0">
                <a:latin typeface="+mj-cs"/>
                <a:cs typeface="+mj-cs"/>
              </a:rPr>
              <a:t>A controller from one vendor plays the role of inventory system (inventory role)</a:t>
            </a:r>
            <a:endParaRPr lang="en-GB" sz="1400" dirty="0">
              <a:latin typeface="+mj-cs"/>
              <a:cs typeface="+mj-cs"/>
            </a:endParaRPr>
          </a:p>
          <a:p>
            <a:pPr lvl="1"/>
            <a:r>
              <a:rPr lang="en-GB" sz="1400" dirty="0">
                <a:latin typeface="+mj-cs"/>
                <a:cs typeface="+mj-cs"/>
              </a:rPr>
              <a:t>Several controllers from different vendors are </a:t>
            </a:r>
            <a:r>
              <a:rPr lang="en-GB" sz="1400" dirty="0">
                <a:latin typeface="+mj-cs"/>
                <a:cs typeface="+mj-cs"/>
                <a:sym typeface="+mn-ea"/>
              </a:rPr>
              <a:t>plays the role of</a:t>
            </a:r>
            <a:r>
              <a:rPr lang="en-GB" sz="1400" dirty="0">
                <a:latin typeface="+mj-cs"/>
                <a:cs typeface="+mj-cs"/>
              </a:rPr>
              <a:t> inventory controller (controller role)</a:t>
            </a:r>
            <a:endParaRPr lang="en-GB" sz="1400" dirty="0">
              <a:latin typeface="+mj-cs"/>
              <a:cs typeface="+mj-cs"/>
            </a:endParaRPr>
          </a:p>
          <a:p>
            <a:pPr lvl="1"/>
            <a:r>
              <a:rPr lang="en-GB" sz="1400" dirty="0">
                <a:latin typeface="+mj-cs"/>
                <a:cs typeface="+mj-cs"/>
              </a:rPr>
              <a:t>Each controller role provides a view of network elements and their physical inventory </a:t>
            </a:r>
            <a:endParaRPr lang="en-GB" sz="1400" dirty="0">
              <a:latin typeface="+mj-cs"/>
              <a:cs typeface="+mj-cs"/>
            </a:endParaRPr>
          </a:p>
          <a:p>
            <a:r>
              <a:rPr lang="en-GB" sz="1800" dirty="0">
                <a:latin typeface="+mj-cs"/>
                <a:cs typeface="+mj-cs"/>
              </a:rPr>
              <a:t>If a vendor has an inventory system, this can take the inventory role</a:t>
            </a:r>
            <a:endParaRPr lang="en-GB" sz="1800" dirty="0">
              <a:latin typeface="+mj-cs"/>
              <a:cs typeface="+mj-cs"/>
            </a:endParaRPr>
          </a:p>
          <a:p>
            <a:pPr marL="0" indent="0">
              <a:buNone/>
            </a:pPr>
            <a:endParaRPr lang="en-GB" sz="1800" dirty="0"/>
          </a:p>
          <a:p>
            <a:endParaRPr lang="en-GB" sz="1800" dirty="0"/>
          </a:p>
        </p:txBody>
      </p:sp>
      <p:sp>
        <p:nvSpPr>
          <p:cNvPr id="18" name="TextBox 17"/>
          <p:cNvSpPr txBox="1"/>
          <p:nvPr/>
        </p:nvSpPr>
        <p:spPr>
          <a:xfrm>
            <a:off x="6920865" y="3194050"/>
            <a:ext cx="1614805" cy="9436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GB" sz="1000" dirty="0"/>
              <a:t>Network may be:</a:t>
            </a:r>
            <a:endParaRPr lang="en-GB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An image in the controller</a:t>
            </a:r>
            <a:endParaRPr lang="en-GB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A simulation</a:t>
            </a:r>
            <a:endParaRPr lang="en-GB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Real hardware</a:t>
            </a:r>
            <a:endParaRPr lang="en-GB" sz="1000" dirty="0"/>
          </a:p>
        </p:txBody>
      </p:sp>
      <p:sp>
        <p:nvSpPr>
          <p:cNvPr id="11" name="TextBox 8"/>
          <p:cNvSpPr txBox="1"/>
          <p:nvPr/>
        </p:nvSpPr>
        <p:spPr>
          <a:xfrm>
            <a:off x="4282440" y="4199890"/>
            <a:ext cx="4631690" cy="5187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GB" sz="1000" dirty="0"/>
              <a:t>Ideally network elements would be a mix of IP, Ethernet, OTN and optical where there were various NEs of different mixes of capabilities. This should have no impact on the ivy interface capability</a:t>
            </a:r>
            <a:r>
              <a:rPr lang="en-US" altLang="en-GB" sz="1000" dirty="0"/>
              <a:t>.</a:t>
            </a:r>
            <a:endParaRPr lang="en-US" altLang="en-GB" sz="1000" dirty="0"/>
          </a:p>
        </p:txBody>
      </p:sp>
      <p:grpSp>
        <p:nvGrpSpPr>
          <p:cNvPr id="15" name="组合 14"/>
          <p:cNvGrpSpPr/>
          <p:nvPr/>
        </p:nvGrpSpPr>
        <p:grpSpPr>
          <a:xfrm>
            <a:off x="5291674" y="1469119"/>
            <a:ext cx="1370186" cy="2604207"/>
            <a:chOff x="10664" y="3960"/>
            <a:chExt cx="2808" cy="5893"/>
          </a:xfrm>
        </p:grpSpPr>
        <p:sp>
          <p:nvSpPr>
            <p:cNvPr id="17" name="Rectangle 3"/>
            <p:cNvSpPr/>
            <p:nvPr/>
          </p:nvSpPr>
          <p:spPr>
            <a:xfrm>
              <a:off x="10938" y="3960"/>
              <a:ext cx="2160" cy="101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GB" sz="1000" dirty="0">
                  <a:latin typeface="+mj-lt"/>
                  <a:cs typeface="+mj-lt"/>
                </a:rPr>
                <a:t>Inventory role</a:t>
              </a:r>
              <a:endParaRPr lang="en-GB" sz="1000" dirty="0">
                <a:latin typeface="+mj-lt"/>
                <a:cs typeface="+mj-lt"/>
              </a:endParaRPr>
            </a:p>
          </p:txBody>
        </p:sp>
        <p:sp>
          <p:nvSpPr>
            <p:cNvPr id="20" name="Rectangle 4"/>
            <p:cNvSpPr/>
            <p:nvPr/>
          </p:nvSpPr>
          <p:spPr>
            <a:xfrm>
              <a:off x="10939" y="6341"/>
              <a:ext cx="2160" cy="101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GB" sz="1000" dirty="0">
                  <a:latin typeface="+mj-lt"/>
                  <a:cs typeface="+mj-lt"/>
                </a:rPr>
                <a:t>Controller role</a:t>
              </a:r>
              <a:endParaRPr lang="en-GB" sz="1000" dirty="0">
                <a:latin typeface="+mj-lt"/>
                <a:cs typeface="+mj-lt"/>
              </a:endParaRPr>
            </a:p>
          </p:txBody>
        </p:sp>
        <p:sp>
          <p:nvSpPr>
            <p:cNvPr id="23" name="Cloud 6"/>
            <p:cNvSpPr/>
            <p:nvPr/>
          </p:nvSpPr>
          <p:spPr>
            <a:xfrm>
              <a:off x="10664" y="8247"/>
              <a:ext cx="2711" cy="1606"/>
            </a:xfrm>
            <a:prstGeom prst="cloud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GB" sz="1000" dirty="0">
                  <a:solidFill>
                    <a:schemeClr val="tx1"/>
                  </a:solidFill>
                  <a:latin typeface="+mj-ea"/>
                  <a:cs typeface="+mj-ea"/>
                </a:rPr>
                <a:t>Network</a:t>
              </a:r>
              <a:endParaRPr lang="en-GB" sz="1000" dirty="0">
                <a:solidFill>
                  <a:schemeClr val="tx1"/>
                </a:solidFill>
                <a:latin typeface="+mj-ea"/>
                <a:cs typeface="+mj-ea"/>
              </a:endParaRPr>
            </a:p>
          </p:txBody>
        </p:sp>
        <p:cxnSp>
          <p:nvCxnSpPr>
            <p:cNvPr id="25" name="Straight Connector 9"/>
            <p:cNvCxnSpPr>
              <a:stCxn id="23" idx="3"/>
              <a:endCxn id="20" idx="2"/>
            </p:cNvCxnSpPr>
            <p:nvPr/>
          </p:nvCxnSpPr>
          <p:spPr>
            <a:xfrm flipV="1">
              <a:off x="12019" y="7359"/>
              <a:ext cx="0" cy="9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13"/>
            <p:cNvCxnSpPr>
              <a:stCxn id="20" idx="0"/>
              <a:endCxn id="17" idx="2"/>
            </p:cNvCxnSpPr>
            <p:nvPr/>
          </p:nvCxnSpPr>
          <p:spPr>
            <a:xfrm flipH="1" flipV="1">
              <a:off x="12018" y="4977"/>
              <a:ext cx="1" cy="13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18"/>
            <p:cNvSpPr txBox="1"/>
            <p:nvPr/>
          </p:nvSpPr>
          <p:spPr>
            <a:xfrm>
              <a:off x="12018" y="5305"/>
              <a:ext cx="1454" cy="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txBody>
            <a:bodyPr wrap="square" rtlCol="0">
              <a:spAutoFit/>
            </a:bodyPr>
            <a:p>
              <a:r>
                <a:rPr lang="en-GB" sz="1000" dirty="0">
                  <a:cs typeface="+mj-lt"/>
                </a:rPr>
                <a:t>ivy</a:t>
              </a:r>
              <a:r>
                <a:rPr lang="en-US" altLang="en-GB" sz="1000" dirty="0">
                  <a:cs typeface="+mj-lt"/>
                </a:rPr>
                <a:t> model</a:t>
              </a:r>
              <a:endParaRPr lang="en-US" altLang="en-GB" sz="1000" dirty="0">
                <a:cs typeface="+mj-lt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485765" y="1194435"/>
            <a:ext cx="1050290" cy="2743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China Unicom</a:t>
            </a:r>
            <a:endParaRPr kumimoji="0" lang="zh-CN" alt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70345" y="2608580"/>
            <a:ext cx="583565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Huawei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 </a:t>
            </a:r>
            <a:endParaRPr kumimoji="0" lang="en-US" altLang="zh-C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7" name="Rectangle 3"/>
          <p:cNvSpPr/>
          <p:nvPr/>
        </p:nvSpPr>
        <p:spPr>
          <a:xfrm>
            <a:off x="6690147" y="1469390"/>
            <a:ext cx="1053989" cy="449428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 cmpd="sng">
            <a:solidFill>
              <a:schemeClr val="tx1"/>
            </a:solidFill>
            <a:prstDash val="solid"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GB" sz="1000" dirty="0">
                <a:latin typeface="+mj-lt"/>
                <a:cs typeface="+mj-lt"/>
              </a:rPr>
              <a:t>Inventory role</a:t>
            </a:r>
            <a:endParaRPr lang="en-GB" sz="1000" dirty="0">
              <a:latin typeface="+mj-lt"/>
              <a:cs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47840" y="1195070"/>
            <a:ext cx="803910" cy="2743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2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Ciena</a:t>
            </a:r>
            <a:endParaRPr kumimoji="0" lang="zh-CN" alt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宋体" panose="02010600030101010101" pitchFamily="2" charset="-122"/>
              <a:cs typeface="+mj-cs"/>
              <a:sym typeface="Calibri" panose="020F0502020204030204"/>
            </a:endParaRPr>
          </a:p>
        </p:txBody>
      </p:sp>
      <p:cxnSp>
        <p:nvCxnSpPr>
          <p:cNvPr id="9" name="Straight Connector 9"/>
          <p:cNvCxnSpPr>
            <a:stCxn id="20" idx="0"/>
          </p:cNvCxnSpPr>
          <p:nvPr/>
        </p:nvCxnSpPr>
        <p:spPr>
          <a:xfrm flipV="1">
            <a:off x="5952857" y="1962817"/>
            <a:ext cx="1312545" cy="55880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灯片编号占位符 9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Ivy model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9730" y="1739265"/>
            <a:ext cx="5405120" cy="29857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510155" y="1166495"/>
            <a:ext cx="5899150" cy="5689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685800" lvl="1" indent="-228600">
              <a:lnSpc>
                <a:spcPct val="90000"/>
              </a:lnSpc>
              <a:spcBef>
                <a:spcPts val="500"/>
              </a:spcBef>
              <a:buFontTx/>
              <a:buChar char="•"/>
              <a:defRPr sz="2400"/>
            </a:pPr>
            <a:r>
              <a:rPr sz="1600">
                <a:sym typeface="+mn-ea"/>
              </a:rPr>
              <a:t>&lt;What draft were involved?&gt; </a:t>
            </a:r>
            <a:endParaRPr sz="1600">
              <a:sym typeface="+mn-ea"/>
            </a:endParaRPr>
          </a:p>
          <a:p>
            <a:pPr marL="1143000" lvl="2" indent="-228600">
              <a:lnSpc>
                <a:spcPct val="90000"/>
              </a:lnSpc>
              <a:spcBef>
                <a:spcPts val="500"/>
              </a:spcBef>
              <a:buFontTx/>
              <a:buChar char="•"/>
              <a:defRPr sz="2400"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  <a:t>draft-ietf-ccamp-network-inventory-yang-02</a:t>
            </a:r>
            <a:endParaRPr kumimoji="0" lang="en-US" altLang="zh-CN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10" y="95250"/>
            <a:ext cx="1524635" cy="4867275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ea typeface="宋体" panose="02010600030101010101" pitchFamily="2" charset="-122"/>
              </a:rPr>
              <a:t>Ivy system(China Unicom Orchestrator)</a:t>
            </a:r>
            <a:endParaRPr lang="en-US" altLang="zh-CN"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795" y="1739265"/>
            <a:ext cx="4234180" cy="22250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610" y="1691640"/>
            <a:ext cx="4109720" cy="226187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441774"/>
          </a:xfrm>
        </p:spPr>
        <p:txBody>
          <a:bodyPr>
            <a:normAutofit fontScale="90000"/>
          </a:bodyPr>
          <a:lstStyle/>
          <a:p>
            <a:r>
              <a:rPr lang="en-GB" dirty="0"/>
              <a:t>Ciena Results</a:t>
            </a: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2522" y="1930676"/>
            <a:ext cx="8506040" cy="3056282"/>
          </a:xfrm>
          <a:prstGeom prst="rect">
            <a:avLst/>
          </a:prstGeom>
        </p:spPr>
      </p:pic>
      <p:sp>
        <p:nvSpPr>
          <p:cNvPr id="6" name="Content Placeholder 2"/>
          <p:cNvSpPr txBox="1"/>
          <p:nvPr/>
        </p:nvSpPr>
        <p:spPr>
          <a:xfrm>
            <a:off x="628650" y="715619"/>
            <a:ext cx="7886700" cy="1113079"/>
          </a:xfrm>
          <a:prstGeom prst="rect">
            <a:avLst/>
          </a:prstGeom>
        </p:spPr>
        <p:txBody>
          <a:bodyPr vert="horz" lIns="68580" tIns="34290" rIns="68580" bIns="34290" rtlCol="0">
            <a:normAutofit fontScale="5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100" dirty="0"/>
              <a:t>We received ivy conformant JSON in a file from the Hackathon</a:t>
            </a:r>
            <a:endParaRPr lang="en-GB" sz="2100" dirty="0"/>
          </a:p>
          <a:p>
            <a:r>
              <a:rPr lang="en-GB" sz="2100" dirty="0"/>
              <a:t>We were able to take that and use our ivy mediation component (</a:t>
            </a:r>
            <a:r>
              <a:rPr lang="en-US" altLang="zh-CN" sz="2100" dirty="0"/>
              <a:t>with a few refinements as we are using a different draft version</a:t>
            </a:r>
            <a:r>
              <a:rPr lang="en-GB" sz="2100" dirty="0"/>
              <a:t>) to extract the NE and equipment data and display it on the Navigator UI</a:t>
            </a:r>
            <a:endParaRPr lang="en-GB" sz="2100" dirty="0"/>
          </a:p>
          <a:p>
            <a:r>
              <a:rPr lang="en-GB" sz="2100" dirty="0"/>
              <a:t>The following screenshot snips show that data</a:t>
            </a:r>
            <a:endParaRPr lang="en-GB" sz="2100" dirty="0"/>
          </a:p>
          <a:p>
            <a:r>
              <a:rPr lang="en-GB" sz="2100" dirty="0"/>
              <a:t>This has been a very productive preparation for the planned hackathon in IETF 126</a:t>
            </a:r>
            <a:endParaRPr lang="en-GB" sz="21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6164" y="365624"/>
            <a:ext cx="7886700" cy="1310514"/>
          </a:xfrm>
          <a:prstGeom prst="rect">
            <a:avLst/>
          </a:prstGeom>
        </p:spPr>
      </p:pic>
      <p:pic>
        <p:nvPicPr>
          <p:cNvPr id="6" name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64" y="1766681"/>
            <a:ext cx="3236960" cy="27318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251" y="1766681"/>
            <a:ext cx="3655079" cy="2207578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Wrap Up</a:t>
            </a:r>
          </a:p>
        </p:txBody>
      </p:sp>
      <p:sp>
        <p:nvSpPr>
          <p:cNvPr id="1465" name="Content Placeholder 2"/>
          <p:cNvSpPr txBox="1">
            <a:spLocks noGrp="1"/>
          </p:cNvSpPr>
          <p:nvPr>
            <p:ph type="body" sz="half" idx="1"/>
          </p:nvPr>
        </p:nvSpPr>
        <p:spPr>
          <a:xfrm>
            <a:off x="457200" y="1200150"/>
            <a:ext cx="4378960" cy="356743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400"/>
            </a:pPr>
            <a:r>
              <a:rPr sz="2300"/>
              <a:t>Team members:</a:t>
            </a:r>
            <a:endParaRPr sz="23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r>
              <a:rPr lang="en-US" sz="1500"/>
              <a:t>Yanxia Tan(Chinaunicom)       Haomian Zheng(Huawei)</a:t>
            </a:r>
            <a:endParaRPr lang="en-US" sz="15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r>
              <a:rPr lang="en-US" sz="1500"/>
              <a:t>Italo Busi</a:t>
            </a:r>
            <a:r>
              <a:rPr lang="en-US" sz="1500">
                <a:sym typeface="+mn-ea"/>
              </a:rPr>
              <a:t>(Huawei)</a:t>
            </a:r>
            <a:r>
              <a:rPr lang="en-US" sz="1500"/>
              <a:t>                    Henry Yu</a:t>
            </a:r>
            <a:r>
              <a:rPr lang="en-US" sz="1500">
                <a:sym typeface="+mn-ea"/>
              </a:rPr>
              <a:t>(Huawei)</a:t>
            </a:r>
            <a:endParaRPr lang="en-US" sz="15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r>
              <a:rPr lang="en-US" sz="1500"/>
              <a:t>Xiao Li</a:t>
            </a:r>
            <a:r>
              <a:rPr lang="en-US" sz="1500">
                <a:sym typeface="+mn-ea"/>
              </a:rPr>
              <a:t>(Huawei)</a:t>
            </a:r>
            <a:r>
              <a:rPr lang="en-US" sz="1500"/>
              <a:t>                         Nigel Davis(Ciena)</a:t>
            </a:r>
            <a:endParaRPr lang="en-US" sz="15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r>
              <a:rPr lang="en-US" altLang="zh-CN" sz="1500">
                <a:sym typeface="+mn-ea"/>
              </a:rPr>
              <a:t>Navin Purohit</a:t>
            </a:r>
            <a:r>
              <a:rPr lang="en-US" sz="1500">
                <a:sym typeface="+mn-ea"/>
              </a:rPr>
              <a:t>(Ciena)</a:t>
            </a:r>
            <a:r>
              <a:rPr lang="en-US" altLang="zh-CN" sz="1500">
                <a:sym typeface="+mn-ea"/>
              </a:rPr>
              <a:t>                Abhay Sombanshi</a:t>
            </a:r>
            <a:r>
              <a:rPr lang="en-US" sz="1500">
                <a:sym typeface="+mn-ea"/>
              </a:rPr>
              <a:t>(Ciena)</a:t>
            </a:r>
            <a:endParaRPr lang="en-US" altLang="zh-CN" sz="15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r>
              <a:rPr lang="en-US" sz="1500"/>
              <a:t>Yanlei Zheng</a:t>
            </a:r>
            <a:r>
              <a:rPr lang="en-US" sz="1500">
                <a:sym typeface="+mn-ea"/>
              </a:rPr>
              <a:t>(Chinaunicom) </a:t>
            </a:r>
            <a:r>
              <a:rPr lang="en-US" sz="1500"/>
              <a:t>   Chaode Yu</a:t>
            </a:r>
            <a:r>
              <a:rPr lang="en-US" sz="1500">
                <a:sym typeface="+mn-ea"/>
              </a:rPr>
              <a:t>(Huawei)</a:t>
            </a:r>
            <a:endParaRPr lang="en-US" sz="1500">
              <a:sym typeface="+mn-ea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r>
              <a:rPr lang="en-US" sz="1500"/>
              <a:t>Aihua Guo(Futurewei)              </a:t>
            </a:r>
            <a:endParaRPr lang="en-US" altLang="zh-CN" sz="15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endParaRPr sz="18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800"/>
            </a:pPr>
            <a:r>
              <a:rPr sz="2300"/>
              <a:t>First timers @ Hackathon:</a:t>
            </a:r>
            <a:endParaRPr sz="23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r>
              <a:rPr lang="en-US" sz="1500">
                <a:sym typeface="+mn-ea"/>
              </a:rPr>
              <a:t>Yanxia Tan</a:t>
            </a:r>
            <a:endParaRPr lang="en-US" sz="15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r>
              <a:rPr lang="en-US" sz="1500">
                <a:sym typeface="+mn-ea"/>
              </a:rPr>
              <a:t>Xiao Li</a:t>
            </a:r>
            <a:endParaRPr lang="en-US" sz="15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r>
              <a:rPr lang="en-US" sz="1500">
                <a:sym typeface="+mn-ea"/>
              </a:rPr>
              <a:t>Yanlei Zheng</a:t>
            </a:r>
            <a:endParaRPr lang="en-US" sz="1500">
              <a:sym typeface="+mn-ea"/>
            </a:endParaRPr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200"/>
            </a:pPr>
            <a:r>
              <a:rPr lang="en-US" sz="1500">
                <a:sym typeface="+mn-ea"/>
              </a:rPr>
              <a:t>Italo Busi     </a:t>
            </a:r>
            <a:endParaRPr lang="en-US" sz="1500"/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1800"/>
            </a:pPr>
          </a:p>
          <a:p>
            <a:pPr marL="0" indent="0">
              <a:lnSpc>
                <a:spcPct val="90000"/>
              </a:lnSpc>
              <a:spcBef>
                <a:spcPts val="500"/>
              </a:spcBef>
              <a:buSzTx/>
              <a:buFontTx/>
              <a:buNone/>
              <a:defRPr sz="2400"/>
            </a:pPr>
          </a:p>
        </p:txBody>
      </p:sp>
      <p:sp>
        <p:nvSpPr>
          <p:cNvPr id="1466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8502739" y="4769565"/>
            <a:ext cx="184061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467" name="Content Placeholder 2"/>
          <p:cNvSpPr txBox="1"/>
          <p:nvPr/>
        </p:nvSpPr>
        <p:spPr>
          <a:xfrm>
            <a:off x="4979670" y="1200150"/>
            <a:ext cx="3994785" cy="3554730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45719" rIns="45719">
            <a:normAutofit lnSpcReduction="20000"/>
          </a:bodyPr>
          <a:lstStyle/>
          <a:p>
            <a:pPr>
              <a:lnSpc>
                <a:spcPct val="90000"/>
              </a:lnSpc>
              <a:spcBef>
                <a:spcPts val="500"/>
              </a:spcBef>
              <a:defRPr sz="2400"/>
            </a:pPr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pPr>
            <a:r>
              <a:rPr lang="en-US" altLang="zh-CN" sz="2000"/>
              <a:t>On our github we have:   https://github.com/tanyanxia/IETF125-Hackathon-ivy-project</a:t>
            </a:r>
            <a:endParaRPr lang="en-US" altLang="zh-CN" sz="2000"/>
          </a:p>
          <a:p>
            <a:pPr marL="800100" lvl="1" indent="-3429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pPr>
            <a:r>
              <a:rPr lang="en-US" altLang="zh-CN" sz="1800"/>
              <a:t>Full Video clip (7min)</a:t>
            </a:r>
            <a:endParaRPr lang="en-US" altLang="zh-CN" sz="1800"/>
          </a:p>
          <a:p>
            <a:pPr marL="800100" lvl="1" indent="-3429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pPr>
            <a:r>
              <a:rPr lang="en-US" altLang="zh-CN" sz="1800"/>
              <a:t>JSON code</a:t>
            </a:r>
            <a:endParaRPr lang="en-US" altLang="zh-CN" sz="1800"/>
          </a:p>
          <a:p>
            <a:pPr marL="800100" lvl="1" indent="-3429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pPr>
            <a:r>
              <a:rPr lang="en-US" altLang="zh-CN" sz="1800"/>
              <a:t>This presentation</a:t>
            </a:r>
            <a:endParaRPr lang="en-US" altLang="zh-CN" sz="1800"/>
          </a:p>
          <a:p>
            <a:pPr marL="342900" indent="-3429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pPr>
            <a:r>
              <a:rPr lang="en-US" altLang="zh-CN" sz="2000"/>
              <a:t>Plan in Vienna (Hackathon IETF126)</a:t>
            </a:r>
            <a:endParaRPr lang="en-US" altLang="zh-CN" sz="2000"/>
          </a:p>
          <a:p>
            <a:pPr marL="800100" lvl="1" indent="-3429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pPr>
            <a:r>
              <a:rPr lang="en-US" altLang="zh-CN" sz="1800"/>
              <a:t>Continue implementing the model from other vendors (interests collected)</a:t>
            </a:r>
            <a:endParaRPr lang="en-US" altLang="zh-CN" sz="1800"/>
          </a:p>
          <a:p>
            <a:pPr>
              <a:lnSpc>
                <a:spcPct val="100000"/>
              </a:lnSpc>
              <a:spcBef>
                <a:spcPts val="500"/>
              </a:spcBef>
              <a:defRPr sz="2400"/>
            </a:pPr>
            <a:endParaRPr lang="en-US" altLang="zh-CN"/>
          </a:p>
          <a:p>
            <a:pPr>
              <a:lnSpc>
                <a:spcPct val="90000"/>
              </a:lnSpc>
              <a:spcBef>
                <a:spcPts val="500"/>
              </a:spcBef>
              <a:defRPr sz="2400"/>
            </a:p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1994</Words>
  <Application>WPS 演示</Application>
  <PresentationFormat>On-screen Show (16:9)</PresentationFormat>
  <Paragraphs>94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Arial</vt:lpstr>
      <vt:lpstr>Times New Roman</vt:lpstr>
      <vt:lpstr>微软雅黑</vt:lpstr>
      <vt:lpstr>Arial Unicode MS</vt:lpstr>
      <vt:lpstr>Calibri Light</vt:lpstr>
      <vt:lpstr>Helvetica</vt:lpstr>
      <vt:lpstr>Calibri</vt:lpstr>
      <vt:lpstr>Office Theme</vt:lpstr>
      <vt:lpstr>IETF Hackathon -YANG Data Model for Network Inventory (IVY)</vt:lpstr>
      <vt:lpstr>Hackathon Architecture</vt:lpstr>
      <vt:lpstr>Ivy model</vt:lpstr>
      <vt:lpstr>Ivy system</vt:lpstr>
      <vt:lpstr>Ciena Results</vt:lpstr>
      <vt:lpstr>PowerPoint 演示文稿</vt:lpstr>
      <vt:lpstr>Wrap 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IETF Hackathon: &lt;Project Name&gt;</dc:title>
  <dc:creator/>
  <cp:lastModifiedBy>谭艳霞</cp:lastModifiedBy>
  <cp:revision>128</cp:revision>
  <dcterms:created xsi:type="dcterms:W3CDTF">2026-02-11T02:22:00Z</dcterms:created>
  <dcterms:modified xsi:type="dcterms:W3CDTF">2026-03-15T08:31:26Z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FB317E3BF5F14309B4B764DE7CEB5ECF_13</vt:lpwstr>
  </property>
  <property fmtid="{D5CDD505-2E9C-101B-9397-08002B2CF9AE}" pid="3" name="KSOProductBuildVer">
    <vt:lpwstr>2052-12.8.2.21555</vt:lpwstr>
  </property>
</Properties>
</file>